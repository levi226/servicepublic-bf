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40580"/>
            <a:ext cx="3047695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4640580"/>
            <a:ext cx="3048610" cy="5029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4640580"/>
            <a:ext cx="3047695" cy="50292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57200" cy="46405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0"/>
            <a:ext cx="73152" cy="464058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DES SERVICES PUBLICS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BURKINA FASO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6858000" cy="36576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— PRÉSENTATION À L'AUTORITÉ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2560320" cy="41148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44368"/>
            <a:ext cx="2523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PRÊT POUR 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  •  Version 2.0  •  Laravel 11 + Filament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2920" cy="38404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1338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portail citoyen — Fonctionnalités et pages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502920" cy="38404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45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administrateur — Gestion du contenu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502920" cy="38404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94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2311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transversales — Recherche, sécurité, SEO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502920" cy="38404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43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7797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réalisées — Les 4 sprints de correction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502920" cy="38404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91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3284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&amp; Indicateurs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502920" cy="38404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40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8770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opérationnel &amp; Roadmap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389120"/>
            <a:ext cx="502920" cy="38404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89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4256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Prochaines étapes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0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CC000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PORTAIL CITOYEN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et parcours utilisateur citoyen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40580"/>
            <a:ext cx="3047695" cy="50292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7695" y="4640580"/>
            <a:ext cx="3048610" cy="5029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305" y="4640580"/>
            <a:ext cx="3047695" cy="50292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PEUT FAIRE UN CITOYEN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actions disponibles 24h/24 • 7j/7 • Sans se déplacer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6128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06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une démarche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1380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mot-clé ou thématique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819656"/>
            <a:ext cx="4297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1819656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29384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1874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une fiche pratique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4400" y="2148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requis, coût, délai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2587752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8600" y="2587752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97480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642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un formulaire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29169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 officiels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28600" y="3355848"/>
            <a:ext cx="4297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28600" y="3355848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65576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34107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organisme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" y="36850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complètes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28600" y="4123944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28600" y="4123944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33672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4400" y="4178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région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14400" y="4453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régions du Burkina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1051560"/>
            <a:ext cx="4297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1051560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161288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49240" y="1106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les thématiques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349240" y="1380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Famille, Santé, Justice...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63440" y="1819656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663440" y="1819656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929384"/>
            <a:ext cx="420624" cy="4206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49240" y="1874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aux e-services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349240" y="2148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eSINTAX, CEFORE, eCNIB...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663440" y="2587752"/>
            <a:ext cx="4297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663440" y="2587752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697480"/>
            <a:ext cx="420624" cy="4206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349240" y="2642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sur mobile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349240" y="29169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et rapide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663440" y="3355848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4663440" y="3355848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465576"/>
            <a:ext cx="420624" cy="420624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349240" y="34107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l'administration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5349240" y="36850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sécurisé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4663440" y="4123944"/>
            <a:ext cx="4297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4663440" y="4123944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4233672"/>
            <a:ext cx="420624" cy="420624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349240" y="4178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S'abonner à la newsletter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5349240" y="4453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 et nouveautés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DÉMARCHES ADMINISTRATIVES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unique numérique — /demarches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citoyen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72184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72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complète : documents requis, coût, délai, organisme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84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1975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des formulaires officiels (PDF/Word/Excel)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96312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96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487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de téléchargements affiché (transparence)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08376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2999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thématique : Famille, Santé, Justice, Commerce...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20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511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de vie : naissance, mariage, création d'entreprise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032504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32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d'ariane : Accueil &gt; Thématique &gt; Démarche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51960" cy="3931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05840"/>
            <a:ext cx="4251960" cy="38404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0332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type d'un citoyen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545336"/>
            <a:ext cx="292608" cy="29260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563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'passeport' dans la recherche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084832"/>
            <a:ext cx="292608" cy="29260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 la démarche dans les résultats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624328"/>
            <a:ext cx="292608" cy="29260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2642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les documents requis + le coût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163824"/>
            <a:ext cx="292608" cy="29260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le formulaire PDF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703320"/>
            <a:ext cx="292608" cy="29260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3721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les coordonnées de l'organisme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242816"/>
            <a:ext cx="292608" cy="29260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présente au guichet avec tous les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DES ORGANISMES PUBLICS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 exhaustif de l'administration burkinabè — /annuaire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651760" cy="109728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88136"/>
            <a:ext cx="26517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687982"/>
            <a:ext cx="2651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 indexés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10972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88136"/>
            <a:ext cx="26517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1687982"/>
            <a:ext cx="2651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09728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88136"/>
            <a:ext cx="26517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1687982"/>
            <a:ext cx="2651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de l'annuaire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88920"/>
            <a:ext cx="548640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990088"/>
            <a:ext cx="402336" cy="40233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32688" y="2862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par région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2688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parmi les 17 régions du BF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27889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2788920"/>
            <a:ext cx="548640" cy="86868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990088"/>
            <a:ext cx="402336" cy="40233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67528" y="2862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nom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367528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textuelle sur nom et acronyme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74320" y="38404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274320" y="3840480"/>
            <a:ext cx="548640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041648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32688" y="3913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complètes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32688" y="4224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Téléphone, email, adresse, horaires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09160" y="38404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09160" y="3840480"/>
            <a:ext cx="548640" cy="86868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4041648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67528" y="3913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Démarches associées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367528" y="4224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vers toutes les procédures de l'organisme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8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006A2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ADMINISTRATEUR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contenu sans développeur • Accès sécurisé /admin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40580"/>
            <a:ext cx="3047695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7695" y="4640580"/>
            <a:ext cx="3048610" cy="5029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305" y="4640580"/>
            <a:ext cx="3047695" cy="502920"/>
          </a:xfrm>
          <a:prstGeom prst="rect">
            <a:avLst/>
          </a:prstGeom>
          <a:solidFill>
            <a:srgbClr val="006A2F"/>
          </a:solidFill>
          <a:ln w="12700">
            <a:solidFill>
              <a:srgbClr val="006A2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PEUT FAIRE UN ADMINISTRATEUR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Filament 3 — accessible depuis /admin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6128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06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une procédure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1380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minutes, titre + description + documents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819656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1819656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29384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1874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du contenu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4400" y="2148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instantanée sur le site public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2587752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8600" y="2587752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97480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642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Uploader des formulaires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29169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 associés aux procédures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28600" y="3355848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28600" y="3355848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65576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34107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l'annuaire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" y="36850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Ajouter/modifier des organismes publics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28600" y="4123944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28600" y="4123944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33672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4400" y="4178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des actualités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14400" y="4453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avec images, date, catégorie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1051560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1051560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161288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49240" y="1106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par thèmes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349240" y="1380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Créer/modifier/ordonner les catégories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63440" y="1819656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663440" y="1819656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929384"/>
            <a:ext cx="420624" cy="4206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49240" y="18745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stats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349240" y="2148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Vues, téléchargements, popularité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663440" y="2587752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663440" y="2587752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697480"/>
            <a:ext cx="420624" cy="4206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349240" y="2642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utilisateurs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349240" y="29169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comptes et assigner rôles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663440" y="3355848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4663440" y="3355848"/>
            <a:ext cx="594360" cy="6675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465576"/>
            <a:ext cx="420624" cy="420624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349240" y="34107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la FAQ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5349240" y="36850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questions/réponses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4663440" y="4123944"/>
            <a:ext cx="4297680" cy="66751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4663440" y="4123944"/>
            <a:ext cx="594360" cy="66751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4233672"/>
            <a:ext cx="420624" cy="420624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349240" y="4178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des pages CMS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5349240" y="4453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institutionnelles sans développeur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RÔLES ET PERMISSIONS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granulaire des accès — Spatie Laravel Permission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4160520" cy="457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51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5270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total au système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4572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5270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éditorial uniquement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920240"/>
            <a:ext cx="8686800" cy="30175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568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Modifier procédures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19568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231136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677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procédures (archiver)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22677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267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2542032"/>
            <a:ext cx="8686800" cy="30175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786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définitive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2578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578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2852928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895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Modifier articles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28895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2889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163824"/>
            <a:ext cx="8686800" cy="30175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004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organismes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2004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3474720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11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catégories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31720" y="35112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511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3785616"/>
            <a:ext cx="8686800" cy="30175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221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Uploader des documents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38221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3822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" y="4096512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330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utilisateurs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4133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41330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8600" y="4407408"/>
            <a:ext cx="8686800" cy="301752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4439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des rôles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331720" y="44439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54880" y="4443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" y="4718304"/>
            <a:ext cx="8686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754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statistiques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31720" y="4754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54880" y="47548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RÉALISÉES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de corrections et améliorations menés à terme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40580"/>
            <a:ext cx="3047695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7695" y="4640580"/>
            <a:ext cx="3048610" cy="5029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305" y="4640580"/>
            <a:ext cx="3047695" cy="50292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4 SPRINTS D'AMÉLIORATION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 — Impact concret pour les citoyens et l'administration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05840"/>
            <a:ext cx="4343400" cy="38404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69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Technique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1545336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5453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→ sauvegardé en base de données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1874520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8745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216" y="1837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Téléchargements → fonctionnels avec compteur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" y="2203704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203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216" y="2167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→ index DB (×3 plus rapide)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" y="2532888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532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5216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→ 9 tests (100% succès)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301752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017520"/>
            <a:ext cx="4343400" cy="38404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0815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UI-1 — Navigation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" y="3557016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557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5216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d'ariane dynamique (toutes les pages)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" y="3886200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3886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région dans l'annuaire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" y="4215384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42153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5216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fonctionnelle (collecte emails)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8328" y="4544568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5445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d'erreur en français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100584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1005840"/>
            <a:ext cx="4343400" cy="38404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069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UI-2 — Performance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1545336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5453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01768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images (−60% data mobile)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1874520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8745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01768" y="1837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Heroicons (−100 Ko par page)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2203704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203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01768" y="2167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404 personnalisée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2532888"/>
            <a:ext cx="164592" cy="1645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532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01768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vide recherche amélioré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17720" y="301752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17720" y="3017520"/>
            <a:ext cx="4343400" cy="38404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0815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UI-3 — Accessibilité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54880" y="3557016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557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01768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WCAG AA (contrastes)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3886200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886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01768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accessible (lecteurs d'écran)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4215384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2153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01768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démarches optimisé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754880" y="4544568"/>
            <a:ext cx="164592" cy="164592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5445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001768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texts sur 100% des images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&amp; INDICATEURS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opérationnelles du système au 16 mars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51560"/>
            <a:ext cx="2011680" cy="1600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108813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01168" y="197967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95728" y="1051560"/>
            <a:ext cx="2011680" cy="16002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08813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95728" y="197967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 indexés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0288" y="1051560"/>
            <a:ext cx="2011680" cy="1600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08813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90288" y="197967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du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4848" y="1051560"/>
            <a:ext cx="2011680" cy="16002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84848" y="108813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784848" y="197967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2834640"/>
            <a:ext cx="2011680" cy="1600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" y="287121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201168" y="376275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95728" y="2834640"/>
            <a:ext cx="2011680" cy="16002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95728" y="287121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2395728" y="376275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0288" y="2834640"/>
            <a:ext cx="2011680" cy="16002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90288" y="287121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590288" y="376275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max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4848" y="2834640"/>
            <a:ext cx="2011680" cy="16002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84848" y="2871216"/>
            <a:ext cx="201168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-100Ko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784848" y="3762756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par page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(Heroicons)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" y="46634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Données de démonstration — seront actualisées avec les données réelles au déploiement en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OPÉRATIONNEL AUJOURD'HUI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déploiement en production nationale — Mars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51560"/>
            <a:ext cx="4251960" cy="3657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51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CITOYEN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545336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545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recherche global (procédures, organismes, articles)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1883664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thématiques &amp; événements de vie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221992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2128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détaillées (documents, coût, délai, organisme)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2560320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5511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avec filtre par région (17 régions)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2898648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8895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 formulaires (PDF/Word) + compteur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3236976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2278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 + sauvegarde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3575304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566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(collecte emails)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" y="3913632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 mobile/tablette/desktop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1168" y="4251960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accessibilité WCAG AA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1168" y="4590288"/>
            <a:ext cx="201168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4590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58114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404 personnalisée + fil d'ariane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90872" y="1051560"/>
            <a:ext cx="4251960" cy="3657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1051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ADMINISTRATION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90872" y="1545336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1545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46904" y="15361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Filament 3 (procédures, articles, organismes)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90872" y="1883664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90872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46904" y="1874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catégories, FAQ, pages CMS, e-services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90872" y="2221992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46904" y="22128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documents + association procédures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90872" y="2560320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0872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46904" y="25511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 &amp; rôles (Super Admin / Editor)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90872" y="2898648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0872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46904" y="28895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(vues, téléchargements)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90872" y="3236976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90872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46904" y="32278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: métadonnées, JSON-LD, sitemap.xml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90872" y="3575304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90872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46904" y="3566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anti-spam (throttle 5/min)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690872" y="3913632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90872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946904" y="39044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CSRF + validation stricte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690872" y="4251960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90872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46904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DB haute performance (× 3 plus rapide)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90872" y="4590288"/>
            <a:ext cx="201168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90872" y="4590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946904" y="458114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(9 tests, 100% succès)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CE QUI EST PRÉVU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planifiées après déploiement 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05840"/>
            <a:ext cx="2834640" cy="56692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" y="1298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3 mois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17556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instantanée (Meilisearch)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22128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aux fautes de frappe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26700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emails contact (accusé réception)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" y="31272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campagnes newsletter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" y="35844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 — messages de contact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" y="40416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77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analytiques (Filament Charts)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" y="4498848"/>
            <a:ext cx="137160" cy="1371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Google Analytics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91256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91256" y="1005840"/>
            <a:ext cx="2834640" cy="56692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91256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91256" y="1298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6 mois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28416" y="17556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réseaux sociaux (Facebook, WhatsApp)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28416" y="22128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citoyens sur les démarches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28416" y="26700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citoyen (démarches sauvegardées)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28416" y="31272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3063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 (eSINTAX, CEFORE, eCNIB...)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28416" y="35844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(nouveaux services)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28416" y="40416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38728" y="3977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prise de rendez-vous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28416" y="4498848"/>
            <a:ext cx="137160" cy="1371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multilingue (mooré, dioula...)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81344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1005840"/>
            <a:ext cx="283464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81344" y="1298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12 mois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18504" y="17556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8816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 sécurisé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18504" y="22128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28816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dossiers en ligne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18504" y="26700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28816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des dossiers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18504" y="31272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8816" y="3063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(questions simples)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18504" y="35844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8816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 (iOS / Android)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18504" y="40416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28816" y="3977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SIGASPE, logiciels ministériels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18504" y="4498848"/>
            <a:ext cx="137160" cy="137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8816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BI pour décideurs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 — BÉNÉFICES POUR L'ADMINISTRATION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atouts clés traduits en valeur métier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515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51560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52728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éditorial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" y="14356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publient du contenu sans développeur en 5 minutes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" y="2020824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1168" y="2020824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2219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6968" y="2112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mobile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86968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 de data mobile, chargement &lt; 1 sec sur 3G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01168" y="2990088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01168" y="2990088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191256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6968" y="33741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validation, anti-spam, hashage mots de passe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01168" y="3959352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1168" y="3959352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16052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6968" y="4050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garantie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86968" y="4343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 automatisés, zéro régression possible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663440" y="10515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3440" y="1051560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52728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49240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avancé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349240" y="14356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JSON-LD, sitemap, slugs lisibles → visibilité Google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2020824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63440" y="2020824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221992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49240" y="2112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WCAG AA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349240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 par citoyens malvoyants, conformité réglementaire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63440" y="347472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663440" y="3474720"/>
            <a:ext cx="594360" cy="82296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675888"/>
            <a:ext cx="402336" cy="40233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49240" y="35661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Évolutivité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349240" y="3858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100K+ procédures, API prête pour intégrations futures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— PROCHAINES ÉTAPES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pour le déploiement national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87416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05840"/>
            <a:ext cx="594360" cy="7315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058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07899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institutionnelle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37160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 Conseil des Ministres ou à la Primature pour validation politique du portail.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" y="1828800"/>
            <a:ext cx="87416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828800"/>
            <a:ext cx="594360" cy="73152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8288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190195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données réelles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19456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du contenu avec les ministères sectoriels : validation des 200 procédures, mise à jour des coordonnées.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2651760"/>
            <a:ext cx="87416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651760"/>
            <a:ext cx="594360" cy="7315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6517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7249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administrateurs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01752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 2 jours pour former 10-15 agents éditoriaux (Super Admin + Editors).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3474720"/>
            <a:ext cx="87416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474720"/>
            <a:ext cx="594360" cy="73152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4747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35478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communication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84048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officielle du lancement : radio, télévision, affichage dans les services publics.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297680"/>
            <a:ext cx="87416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4297680"/>
            <a:ext cx="594360" cy="7315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2976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437083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post-lancement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66344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statistiques (visites, recherches, téléchargements) pendant 3 mois pour ajustements.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ATTENDU POUR LES CITOYENS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mesurables du portail sur la relation administration-citoyen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05840"/>
            <a:ext cx="2057400" cy="6858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24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déplacements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citoyen s'informe en ligne avant de se rendre au guichet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14016" y="100584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14016" y="1005840"/>
            <a:ext cx="2057400" cy="6858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1024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−3h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05456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gagnées par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05456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centralisée vs appels multiples et allers-retours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00584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005840"/>
            <a:ext cx="2057400" cy="6858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024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18304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nuit et jour, sans file d'attente, sans intermédiaire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39712" y="1005840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1005840"/>
            <a:ext cx="2057400" cy="68580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0241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31152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régions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31152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régions, 47 provinces — portail accessible sur mobile 3G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" y="3337560"/>
            <a:ext cx="8741664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337560"/>
            <a:ext cx="109728" cy="141732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74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Portail Service Public BF v2 incarne la modernisation de l'administration burkinabè. Il offre à chaque citoyen, où qu'il se trouve, un accès égal et transparent à l'information administrative officielle.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8610" cy="201168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201168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37760"/>
            <a:ext cx="3047695" cy="2057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7695" y="4937760"/>
            <a:ext cx="3048610" cy="20574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305" y="4937760"/>
            <a:ext cx="3047695" cy="20574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FFE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— Progrès — Justice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508760"/>
            <a:ext cx="5486400" cy="36576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PRÊT POUR LA PRODUCTION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14400" y="2734056"/>
            <a:ext cx="320040" cy="320040"/>
          </a:xfrm>
          <a:prstGeom prst="rect">
            <a:avLst/>
          </a:prstGeom>
          <a:solidFill>
            <a:srgbClr val="00843B"/>
          </a:solidFill>
          <a:ln w="12700">
            <a:solidFill>
              <a:srgbClr val="008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 à 100%  —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6974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opérationnelles, 9 tests automatisés validés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374136"/>
            <a:ext cx="320040" cy="320040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aux standards  —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337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AA, SEO avancé, sécurité renforcée, design responsive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014216"/>
            <a:ext cx="320040" cy="3200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l'autorité  —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9776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déploiement et mise en ligne possible immédiatement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préparé par l'Équipe Technique  •  Mars 2026  •  contact@servicepublic.gov.bf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Public BF v2 — Présentation à l'Autorité</dc:title>
  <dc:subject>PptxGenJS Presentation</dc:subject>
  <dc:creator>Équipe Technique Service Public BF</dc:creator>
  <cp:lastModifiedBy>Équipe Technique Service Public BF</cp:lastModifiedBy>
  <cp:revision>1</cp:revision>
  <dcterms:created xsi:type="dcterms:W3CDTF">2026-03-16T15:03:02Z</dcterms:created>
  <dcterms:modified xsi:type="dcterms:W3CDTF">2026-03-16T15:03:02Z</dcterms:modified>
</cp:coreProperties>
</file>